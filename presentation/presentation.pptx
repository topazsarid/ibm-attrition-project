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One-line hook: people don't leave over one thing; strain stacks up, and pay can't fully fix it. State the title and the team. Keep it to ~20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Attrition is expensive: recruiting, training, and lost productivity until the new hire ramps up. So firms want to know WHY people leave. In our data, 16.1% left. ~40 sec.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we know the field. Three strands: (1) pay matters but is secondary; (2) work demands drive turnover; (3) embeddedness explains why singles leave more. Our contribution is the right column — we test accumulation and the limits of pay. ~70 sec. This slide answers the 20-point 'prior work' criterion.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question once, clearly. Then the hypothesis: more strain markers → more leaving, and pay helps less as strain rises. ~30 sec.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data tour: 1,470 employees, synthetic IBM dataset, no missing values. Target is leave/stay; only 16.1% left, so the classes are imbalanced. We verified there are no impossible age/experience values. ~40 sec.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steps: prepare the data, build the strain score and pay groups, then run logistic regression with seniority controls and validity checks. Emphasize the strain score is just a 0–3 count. ~50 sec.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 finding. As markers stack from 0 to 3, attrition climbs 2.5% → 8.3% → 20.3% → 50%. Each extra marker roughly triples the odds (OR ≈ 3.2), and the trend is significant. This is the core of the project. ~50 sec.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the heatmap: down each column, pay lowers attrition; but across the top row (high strain) it flattens. Single employees who work overtime stay around 36% even at high pay. Money buys back one factor, not several. Note small cells — read as indicative. ~50 sec.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strong. Validity: we ruled out seniority as the real driver of the pay effect. Limitations: synthetic, cross-sectional, small cells. Takeaway: strain stacks, and pay alone won't retain people. ~50 sec.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 and invite questions. Make sure to finish on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8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CUMULATIVE ATTRITION RISK HYPOTHESIS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DC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Strain, Embeddedness, and the Limits of Pay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352044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AE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“Employees rarely leave because of one factor — work-life strain accumulates, and pay only helps up to a point.”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5669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Tzlil Hayne  ·  Oded Shmuely  ·  Amit Shaimen  ·  Topaz Sarid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605332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FB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SISE2601  ·  Data Analysis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employee attrition matters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an employee is costly — and in this dataset, 16.1% of employees left.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38048" y="2834640"/>
            <a:ext cx="2926080" cy="1554480"/>
          </a:xfrm>
          <a:prstGeom prst="roundRect">
            <a:avLst>
              <a:gd name="adj" fmla="val 5882"/>
            </a:avLst>
          </a:prstGeom>
          <a:solidFill>
            <a:srgbClr val="EAF1F3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8048" y="283464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employee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764128" y="2834640"/>
            <a:ext cx="8686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C06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632808" y="2834640"/>
            <a:ext cx="2926080" cy="1554480"/>
          </a:xfrm>
          <a:prstGeom prst="roundRect">
            <a:avLst>
              <a:gd name="adj" fmla="val 5882"/>
            </a:avLst>
          </a:prstGeom>
          <a:solidFill>
            <a:srgbClr val="EAF1F3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32808" y="283464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Recruiting &amp;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 replacement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558888" y="2834640"/>
            <a:ext cx="8686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C06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8427568" y="2834640"/>
            <a:ext cx="2926080" cy="1554480"/>
          </a:xfrm>
          <a:prstGeom prst="roundRect">
            <a:avLst>
              <a:gd name="adj" fmla="val 5882"/>
            </a:avLst>
          </a:prstGeom>
          <a:solidFill>
            <a:srgbClr val="EAF1F3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27568" y="283464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productivity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ramp-up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why people leave helps focus retention where it matters.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build 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 research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extension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 predicts turnover, but is not the strongest factor (Griffeth et al., 2000)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4E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test whether pay still helps under high strain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Overtime and heavy demands raise work pressure and turnover (Wong et al., 2024)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4E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test the accumulation of factors, not each one alone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Embeddedness: workers with more ties leave less (Mitchell et al., 2001)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4E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use single status as a marker of lower embeddedness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38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C06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" y="1920240"/>
            <a:ext cx="10332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does the accumulation of overtime, business travel, and single status relate to employee attrition — and does higher pay weaken this link?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4297680"/>
            <a:ext cx="10332720" cy="1188720"/>
          </a:xfrm>
          <a:prstGeom prst="roundRect">
            <a:avLst>
              <a:gd name="adj" fmla="val 6154"/>
            </a:avLst>
          </a:prstGeom>
          <a:solidFill>
            <a:srgbClr val="1F4E5F"/>
          </a:solidFill>
          <a:ln w="19050">
            <a:solidFill>
              <a:srgbClr val="C062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429768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6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increases as strain markers accumulate, while pay becomes less protective under high strain.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73152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029200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4E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IBM HR Analytics Employee Attrition (synthetic)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4E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of analysis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employee per row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4E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1,470  (no missing values)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4E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Attrition — Yes / 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4E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features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Overtime, business travel, marital status, income, job level, age, tenure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229600" y="1554480"/>
            <a:ext cx="3291840" cy="3108960"/>
          </a:xfrm>
          <a:prstGeom prst="roundRect">
            <a:avLst>
              <a:gd name="adj" fmla="val 2941"/>
            </a:avLst>
          </a:prstGeom>
          <a:solidFill>
            <a:srgbClr val="1F4E5F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0" y="192024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16.1%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8229600" y="31089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DC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employees left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229600" y="36118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E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237 of 1,470  ·  imbalanced classes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tested 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99720" y="1554480"/>
            <a:ext cx="3456432" cy="3383280"/>
          </a:xfrm>
          <a:prstGeom prst="roundRect">
            <a:avLst>
              <a:gd name="adj" fmla="val 2162"/>
            </a:avLst>
          </a:prstGeom>
          <a:solidFill>
            <a:srgbClr val="EAF1F3"/>
          </a:solidFill>
          <a:ln w="12700">
            <a:solidFill>
              <a:srgbClr val="C9D6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16456" y="1874520"/>
            <a:ext cx="822960" cy="822960"/>
          </a:xfrm>
          <a:prstGeom prst="ellipse">
            <a:avLst/>
          </a:prstGeom>
          <a:solidFill>
            <a:srgbClr val="C0622E"/>
          </a:solidFill>
          <a:ln/>
        </p:spPr>
      </p:sp>
      <p:sp>
        <p:nvSpPr>
          <p:cNvPr id="5" name="Text 3"/>
          <p:cNvSpPr/>
          <p:nvPr/>
        </p:nvSpPr>
        <p:spPr>
          <a:xfrm>
            <a:off x="1816456" y="1874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2600" y="2880360"/>
            <a:ext cx="3090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28320" y="3383280"/>
            <a:ext cx="29992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the dataset, drop non-informative columns, and select the key variables.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67632" y="1554480"/>
            <a:ext cx="3456432" cy="3383280"/>
          </a:xfrm>
          <a:prstGeom prst="roundRect">
            <a:avLst>
              <a:gd name="adj" fmla="val 2162"/>
            </a:avLst>
          </a:prstGeom>
          <a:solidFill>
            <a:srgbClr val="EAF1F3"/>
          </a:solidFill>
          <a:ln w="12700">
            <a:solidFill>
              <a:srgbClr val="C9D6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84368" y="1874520"/>
            <a:ext cx="822960" cy="822960"/>
          </a:xfrm>
          <a:prstGeom prst="ellipse">
            <a:avLst/>
          </a:prstGeom>
          <a:solidFill>
            <a:srgbClr val="C0622E"/>
          </a:solidFill>
          <a:ln/>
        </p:spPr>
      </p:sp>
      <p:sp>
        <p:nvSpPr>
          <p:cNvPr id="10" name="Text 8"/>
          <p:cNvSpPr/>
          <p:nvPr/>
        </p:nvSpPr>
        <p:spPr>
          <a:xfrm>
            <a:off x="5684368" y="1874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50512" y="2880360"/>
            <a:ext cx="3090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construction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96232" y="3383280"/>
            <a:ext cx="29992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strain score (0–3) from overtime + any travel + single, and split income into low / medium / high.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35544" y="1554480"/>
            <a:ext cx="3456432" cy="3383280"/>
          </a:xfrm>
          <a:prstGeom prst="roundRect">
            <a:avLst>
              <a:gd name="adj" fmla="val 2162"/>
            </a:avLst>
          </a:prstGeom>
          <a:solidFill>
            <a:srgbClr val="EAF1F3"/>
          </a:solidFill>
          <a:ln w="12700">
            <a:solidFill>
              <a:srgbClr val="C9D6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2280" y="1874520"/>
            <a:ext cx="822960" cy="822960"/>
          </a:xfrm>
          <a:prstGeom prst="ellipse">
            <a:avLst/>
          </a:prstGeom>
          <a:solidFill>
            <a:srgbClr val="C0622E"/>
          </a:solidFill>
          <a:ln/>
        </p:spPr>
      </p:sp>
      <p:sp>
        <p:nvSpPr>
          <p:cNvPr id="15" name="Text 13"/>
          <p:cNvSpPr/>
          <p:nvPr/>
        </p:nvSpPr>
        <p:spPr>
          <a:xfrm>
            <a:off x="9552280" y="1874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418424" y="2880360"/>
            <a:ext cx="3090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64144" y="3383280"/>
            <a:ext cx="29992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logistic regression, add seniority controls, and run validity checks.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Attrition rises sharply as strain factors accumulate</a:t>
            </a:r>
            <a:endParaRPr lang="en-US" sz="3000" dirty="0"/>
          </a:p>
        </p:txBody>
      </p:sp>
      <p:pic>
        <p:nvPicPr>
          <p:cNvPr id="3" name="Image 0" descr="dose_respon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1417320"/>
            <a:ext cx="7406640" cy="47365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01168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06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6400" dirty="0"/>
          </a:p>
        </p:txBody>
      </p:sp>
      <p:sp>
        <p:nvSpPr>
          <p:cNvPr id="5" name="Text 2"/>
          <p:cNvSpPr/>
          <p:nvPr/>
        </p:nvSpPr>
        <p:spPr>
          <a:xfrm>
            <a:off x="548640" y="30175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with all three markers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361188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just 2.5% with none — each added marker roughly triples the odds of leaving.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 helps under low strain — but cannot offset high strain</a:t>
            </a:r>
            <a:endParaRPr lang="en-US" sz="3000" dirty="0"/>
          </a:p>
        </p:txBody>
      </p:sp>
      <p:pic>
        <p:nvPicPr>
          <p:cNvPr id="3" name="Image 0" descr="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63040"/>
            <a:ext cx="7223760" cy="44805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46720" y="1828800"/>
            <a:ext cx="3657600" cy="3291840"/>
          </a:xfrm>
          <a:prstGeom prst="roundRect">
            <a:avLst>
              <a:gd name="adj" fmla="val 2222"/>
            </a:avLst>
          </a:prstGeom>
          <a:solidFill>
            <a:srgbClr val="EAF1F3"/>
          </a:solidFill>
          <a:ln w="12700">
            <a:solidFill>
              <a:srgbClr val="C9D6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75320" y="2057400"/>
            <a:ext cx="32004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low strain,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pay clearly lowers attrition.
</a:t>
            </a:r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C06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high strain,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stays high even for medium- and high-pay employees — extra pay no longer helps.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Validity, limitations &amp; takeaway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3456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345643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for age, job level, and tenure. Checked whether the income effect is really seniority — it largely is (a Simpson's-paradox pattern).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370832" y="1463040"/>
            <a:ext cx="3456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370832" y="1965960"/>
            <a:ext cx="345643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is synthetic. Cross-sectional — associations, not causation. The highest-strain pay groups are small, so exact percentages are indicative.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092440" y="1371600"/>
            <a:ext cx="3566160" cy="4023360"/>
          </a:xfrm>
          <a:prstGeom prst="roundRect">
            <a:avLst>
              <a:gd name="adj" fmla="val 2051"/>
            </a:avLst>
          </a:prstGeom>
          <a:solidFill>
            <a:srgbClr val="1F4E5F"/>
          </a:solidFill>
          <a:ln/>
        </p:spPr>
      </p:sp>
      <p:sp>
        <p:nvSpPr>
          <p:cNvPr id="8" name="Text 6"/>
          <p:cNvSpPr/>
          <p:nvPr/>
        </p:nvSpPr>
        <p:spPr>
          <a:xfrm>
            <a:off x="8321040" y="1600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6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21040" y="2148840"/>
            <a:ext cx="31546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Strain accumulates, and pay is not a complete retention strategy.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keep people, reduce stacked strain — don't rely on pay alone.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38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32004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C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Cumulative Attrition Risk Hypothesis  ·  Tzlil, Oded, Amit, Topaz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2026-06-25T17:10:17Z</dcterms:created>
  <dcterms:modified xsi:type="dcterms:W3CDTF">2026-06-25T17:10:17Z</dcterms:modified>
</cp:coreProperties>
</file>